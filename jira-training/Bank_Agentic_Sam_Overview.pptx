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63" r:id="rId9"/>
    <p:sldId id="264" r:id="rId10"/>
    <p:sldId id="260" r:id="rId6"/>
    <p:sldId id="261" r:id="rId7"/>
    <p:sldId id="262" r:id="rId8"/>
    <p:sldId id="265" r:id="rId11"/>
    <p:sldId id="266" r:id="rId12"/>
    <p:sldId id="267" r:id="rId13"/>
    <p:sldId id="269" r:id="rId20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 Agentic AI Platform — Bank_Agentic_Sam, team-managed Scrum project BAS in Jira. Start 6 Oct 2026; production target 29 Dec 2026. Sources: workbook 00_START_HERE; Jira import report (bank-agentic-sam-report.md).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and business outcomes from EP-01 (Product Discovery &amp; Architecture) and EP-05 objective; success definition from v1.0 Production release description (07_RELEASES); EP-01 exit criteria: product charter and MVP scope approved, architecture and security boundaries reviewed, DoR/DoD agreed, backlog sprint-ready. EP-02: every interaction tied to an authenticated bank employee. Production target 29 Dec 2026 (00_START_HERE). Source: project workbook (workbook-dump.md).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dates and descriptions from workbook 07_RELEASES and Jira versions in the import report. 'Support and escalation active' is from the EP-09 exit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names, dates and goals from workbook 01_MASTER_SEQUENCE and sheets 08_SPRINT1–13_SPRINT6. S6 ends 28 Dec; v1.0 release date is 29 Dec. One backlog item (PB-ST01 / BAS-41) is unscheduled in the backlog.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from Jira import report: 71 issues = 9 epics + 19 stories (incl. 9 Features as Story + label 'feature') + 9 tasks (incl. 1 AI Control as Task + label 'ai-control') + 4 bugs + 30 subtasks; 9 dependency links. Keys from bank-agentic-sam-keymap.json. 'Used for' text from workbook 16_JIRA_FEATURES. BAS-41 (PB-ST01, customer-service case summarization) stays in the product backlog as Phase 2, outside v1.0 (workbook 14_PRODUCT_BACKLOG).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epic names: BAS-1 Product Discovery &amp; Architecture; BAS-2 Identity, Access &amp; User Isolation; BAS-3 Banking Data &amp; System Integrations; BAS-4 RAG &amp; Governed Knowledge; BAS-5 Agent Orchestration &amp; Approved Tools; BAS-6 AI Governance, Privacy &amp; Guardrails; BAS-7 LLMOps, Evaluation &amp; Observability; BAS-8 Quality Engineering, Security &amp; UAT; BAS-9 Production Release, Operations &amp; Adoption. Purposes from workbook 06_EPICS_CREATE scope text; keys from Jira import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from Jira import report (bank-agentic-sam-report.md): 3 versions, 9 epics, 6 sprints (board 235), 71 issues = 9 epics + 19 stories + 9 tasks + 4 bugs + 30 subtasks; 9 dependency links. Features created as Story + 'feature' label; AI Control as Task + 'ai-control' label. Reports (burndown, sprint report, velocity) listed as recommended in workbook 16_JIRA_FEATURES.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9 links from workbook 15_DEPENDENCIES and keymap: BAS-14 blocks BAS-18; BAS-18 blocks BAS-20; BAS-21 relates BAS-25 (step 2 label "Governed retrieval" = BAS-20 Entitlement-Aware Grounded Knowledge Service); BAS-26 blocks BAS-39; BAS-29 blocks BAS-36; BAS-32 relates BAS-36; BAS-37 blocks BAS-39; BAS-16 blocks BAS-20; BAS-34 blocks BAS-39.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Controls from workbook EP-06/EP-07/EP-08 scope and exit criteria and stories BAS-26, BAS-29, BAS-30, BAS-32, BAS-36, BAS-37. Review gates (Code Review, AI &amp; Security Review, UAT / Validation, Ready for Release) are the recommended enterprise workflow in workbook 04_WORKFLOW. Per the Jira import report, these enterprise statuses are NOT yet configured in Jira project BAS (not settable via the import tool) and remain to be set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structure — the workbook has no org chart. Roles drawn from the workbook: Product Owner persona (S1-ST01), business-owner production recommendation (S5 UAT / release-readiness task BAS-37), architecture &amp; security (EP-01, EP-02), QA/red-team and UAT (EP-08), governance/compliance (EP-06), LLMOps/operations (EP-07, EP-09). Ajit Vishwakarma is the assignee on all work items in the workbook (in Jira the assignee lookup failed, so items are unassigned). No other names are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 from workbook 15_DEPENDENCIES (BAS-26, BAS-37, BAS-34 block BAS-39; BAS-29 blocks BAS-36), sprint dates (S6 15–28 Dec; v1.0 release date 29 Dec). Ratings are the presenter's assessment. Next steps from the Jira import report 'skipped' list: assignee lookup failed (all unassigned); fixVersions not set on issues; enterprise workflow statuses (Code Review, AI &amp; Security Review, etc.) not configured; default sprint 'BAS Sprint 1' (id 202) unused. Then start Sprint S1 (6–19 Oct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cadence (standard Scrum events for six two-week sprints and three releases). Jira reports (burndown, sprint report, velocity) and the dashboard (Sprint Health, Bugs, Release gadgets) are 'Recommended' in workbook 16_JIRA_FEATURES; the Board is used for the current sprint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097280"/>
            <a:ext cx="2377440" cy="2377440"/>
          </a:xfrm>
          <a:prstGeom prst="rect">
            <a:avLst/>
          </a:prstGeom>
          <a:solidFill>
            <a:srgbClr val="0E9AA7">
              <a:alpha val="45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1828800"/>
            <a:ext cx="2377440" cy="2377440"/>
          </a:xfrm>
          <a:prstGeom prst="rect">
            <a:avLst/>
          </a:prstGeom>
          <a:solidFill>
            <a:srgbClr val="0E9AA7">
              <a:alpha val="35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2560320"/>
            <a:ext cx="2377440" cy="2377440"/>
          </a:xfrm>
          <a:prstGeom prst="rect">
            <a:avLst/>
          </a:prstGeom>
          <a:solidFill>
            <a:srgbClr val="0E9AA7">
              <a:alpha val="25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3291840"/>
            <a:ext cx="2377440" cy="2377440"/>
          </a:xfrm>
          <a:prstGeom prst="rect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822960" cy="822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LEADERSHIP BRIEFING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Bank_Agentic_Sam — Scrum delivery plan (Jira project BAS)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Saleem  |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VISION &amp;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we are building a governed agentic AI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400"/>
              </a:spcAft>
              <a:buSzPct val="100000"/>
              <a:buChar char="■"/>
            </a:pPr>
            <a:r>
              <a:rPr lang="en-US" sz="22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controlled agent that plans multi-step work and runs banking workflows using only approved tools</a:t>
            </a:r>
            <a:endParaRPr lang="en-US" sz="2200" dirty="0"/>
          </a:p>
          <a:p>
            <a:pPr marL="342900" indent="-342900">
              <a:spcAft>
                <a:spcPts val="3400"/>
              </a:spcAft>
              <a:buSzPct val="100000"/>
              <a:buChar char="■"/>
            </a:pPr>
            <a:r>
              <a:rPr lang="en-US" sz="22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high-value, low-risk use cases, backed by measurable success KPIs</a:t>
            </a:r>
            <a:endParaRPr lang="en-US" sz="2200" dirty="0"/>
          </a:p>
          <a:p>
            <a:pPr marL="342900" indent="-342900">
              <a:spcAft>
                <a:spcPts val="3400"/>
              </a:spcAft>
              <a:buSzPct val="100000"/>
              <a:buChar char="■"/>
            </a:pPr>
            <a:r>
              <a:rPr lang="en-US" sz="22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reference architecture: identity, retrieval, tools, governance and observability</a:t>
            </a:r>
            <a:endParaRPr lang="en-US" sz="2200" dirty="0"/>
          </a:p>
          <a:p>
            <a:pPr marL="342900" indent="-342900">
              <a:spcAft>
                <a:spcPts val="3400"/>
              </a:spcAft>
              <a:buSzPct val="100000"/>
              <a:buChar char="■"/>
            </a:pPr>
            <a:r>
              <a:rPr lang="en-US" sz="22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Success: v1.0 security-tested, UAT-approved and released to the production population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0" y="1645920"/>
            <a:ext cx="3867912" cy="4206240"/>
          </a:xfrm>
          <a:prstGeom prst="rect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645920"/>
            <a:ext cx="91440" cy="42062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MESSAGE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23774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Governed, auditable AI for authenticated bank employees, live by 29 Dec 2026.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releases to production by 29 Dec 2026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0607040" cy="0"/>
          </a:xfrm>
          <a:prstGeom prst="line">
            <a:avLst/>
          </a:prstGeom>
          <a:noFill/>
          <a:ln w="38100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42032"/>
            <a:ext cx="402336" cy="402336"/>
          </a:xfrm>
          <a:prstGeom prst="ellipse">
            <a:avLst/>
          </a:prstGeom>
          <a:solidFill>
            <a:srgbClr val="0B254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6–19 Oct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429000" cy="265176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34290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v0.1 Foundation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MVP scope and architecture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SSO identity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isolation foundation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6280" y="2542032"/>
            <a:ext cx="402336" cy="402336"/>
          </a:xfrm>
          <a:prstGeom prst="ellipse">
            <a:avLst/>
          </a:prstGeom>
          <a:solidFill>
            <a:srgbClr val="0B254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Oct – 30 Nov 2026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3291840"/>
            <a:ext cx="3429000" cy="265176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3291840"/>
            <a:ext cx="34290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v0.5 Controlled Pilot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4069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Governed RAG and agent orchestration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guardrails and observability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Ready for controlled pilot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75320" y="2542032"/>
            <a:ext cx="402336" cy="402336"/>
          </a:xfrm>
          <a:prstGeom prst="ellipse">
            <a:avLst/>
          </a:prstGeom>
          <a:solidFill>
            <a:srgbClr val="0E9AA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1–29 Dec 2026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0" y="3291840"/>
            <a:ext cx="3429000" cy="265176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3291840"/>
            <a:ext cx="3429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v1.0 Production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21040" y="4069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Security-tested and UAT-approved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Released to the defined production population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 and escalation active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SPRINTS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two-week sprints, 6 Oct – 28 Dec 2026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920240" cy="731520"/>
          </a:xfrm>
          <a:prstGeom prst="chevron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– 19 Oct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755648" cy="301752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 &amp; Access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1508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Finalize MVP scope, architecture, SSO identity, user-context isolation and the first governed knowledge slice.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14016" y="1645920"/>
            <a:ext cx="1920240" cy="731520"/>
          </a:xfrm>
          <a:prstGeom prst="chevron">
            <a:avLst/>
          </a:prstGeom>
          <a:solidFill>
            <a:srgbClr val="133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Oct – 2 Nov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14016" y="2971800"/>
            <a:ext cx="1755648" cy="301752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 &amp; Knowledge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51176" y="3886200"/>
            <a:ext cx="1508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Governed ingestion, entitlement-aware retrieval, citations and freshness controls.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79392" y="1645920"/>
            <a:ext cx="1920240" cy="731520"/>
          </a:xfrm>
          <a:prstGeom prst="chevron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79392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– 16 Nov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79392" y="2971800"/>
            <a:ext cx="1755648" cy="301752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Orchestration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16552" y="3886200"/>
            <a:ext cx="1508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Planning, approved tool execution, human approvals and core banking agent workflows.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44768" y="1645920"/>
            <a:ext cx="1920240" cy="731520"/>
          </a:xfrm>
          <a:prstGeom prst="chevron">
            <a:avLst/>
          </a:prstGeom>
          <a:solidFill>
            <a:srgbClr val="133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44768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– 30 Nov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44768" y="2971800"/>
            <a:ext cx="1755648" cy="301752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&amp; LLMOps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81928" y="3886200"/>
            <a:ext cx="1508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Harden AI guardrails, privacy, observability, evaluation, cost and model/prompt version controls.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10144" y="1645920"/>
            <a:ext cx="1920240" cy="731520"/>
          </a:xfrm>
          <a:prstGeom prst="chevron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010144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– 14 Dec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10144" y="2971800"/>
            <a:ext cx="1755648" cy="301752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47304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QA &amp; UAT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47304" y="3886200"/>
            <a:ext cx="1508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Red-team testing, resilience, defect remediation and business UAT.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875520" y="1645920"/>
            <a:ext cx="1920240" cy="731520"/>
          </a:xfrm>
          <a:prstGeom prst="chevron">
            <a:avLst/>
          </a:prstGeom>
          <a:solidFill>
            <a:srgbClr val="133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4984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87552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– 28 Dec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875520" y="2971800"/>
            <a:ext cx="1755648" cy="301752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12680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&amp; Adoption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12680" y="3886200"/>
            <a:ext cx="1508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Controlled rollout, training, support readiness, adoption measurement and production release.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BACKLOG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 Jira issues across five work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000"/>
                <a:gridCol w="1000000"/>
                <a:gridCol w="3100000"/>
                <a:gridCol w="3200000"/>
                <a:gridCol w="2164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 type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Includes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Example in Jira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Used for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Epic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BAS-1 – BAS-9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BAS-4 RAG &amp; Governed Knowledge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and technology themes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 stories + 9 Features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BAS-14 SSO and session context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 value, with acceptance criteria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Task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 tasks + 1 AI Control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BAS-30 PII masking and retention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Architecture, UAT, standards, operations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each in sprints S2–S5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BAS-34 Telemetry privacy bug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Reproduction, actual, expected, impact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Subtask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Created under parent items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BAS-44 Profile API contract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Granular implementation steps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Plus 9 dependency links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BAS-41 kept for Phase 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/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Nine epics define the platform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19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 &amp;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BAS-1 · Use cases, MVP scope, KPIs and reference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554480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719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&amp; Access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2240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BAS-2 · SSO, entitlements, session isolation, fail-closed access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554480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719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&amp; Integrations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2240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BAS-3 · Governed connectors, data contracts and audit logging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127248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127248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 &amp; Knowledge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38130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BAS-4 · Entitlement-aware retrieval with source citations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3127248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3127248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1208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Orchestration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26280" y="38130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BAS-5 · Planner, tool registry, human approval for high-risk actions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46720" y="3127248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3127248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96112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Governance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75320" y="38130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BAS-6 · Prompt-injection defense, PII handling, approval gates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4700016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700016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864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463040" y="4864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LLMOps &amp; Observability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7240" y="538581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BAS-7 · Evaluation sets, versioning, traces, cost and latency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297680" y="4700016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97680" y="4700016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4864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212080" y="4864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QA, Security &amp; UAT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26280" y="538581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BAS-8 · Functional, red-team, performance and business UAT testing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46720" y="4700016"/>
            <a:ext cx="35935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4700016"/>
            <a:ext cx="73152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4864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8961120" y="4864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&amp; Adoption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75320" y="538581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BAS-9 · Phased rollout, runbooks, training, support and adoption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Scrum in Jira Cloud: team-managed project BAS, board 235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606040" cy="329184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66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54864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Two-week sprints, 6 Oct – 28 Dec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64992" y="1737360"/>
            <a:ext cx="2606040" cy="329184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011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6600" dirty="0"/>
          </a:p>
        </p:txBody>
      </p:sp>
      <p:sp>
        <p:nvSpPr>
          <p:cNvPr id="15" name="Shape 13"/>
          <p:cNvSpPr/>
          <p:nvPr/>
        </p:nvSpPr>
        <p:spPr>
          <a:xfrm>
            <a:off x="3639312" y="3520440"/>
            <a:ext cx="54864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39312" y="4160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v0.1 Foundation, v0.5 Controlled Pilot, v1.0 Production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1737360"/>
            <a:ext cx="2606040" cy="329184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011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6600" dirty="0"/>
          </a:p>
        </p:txBody>
      </p:sp>
      <p:sp>
        <p:nvSpPr>
          <p:cNvPr id="20" name="Shape 18"/>
          <p:cNvSpPr/>
          <p:nvPr/>
        </p:nvSpPr>
        <p:spPr>
          <a:xfrm>
            <a:off x="6455664" y="3520440"/>
            <a:ext cx="54864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Epics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55664" y="4160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BAS-1 to BAS-9, one per capability theme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97696" y="1737360"/>
            <a:ext cx="2606040" cy="329184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2011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</a:t>
            </a:r>
            <a:endParaRPr lang="en-US" sz="6600" dirty="0"/>
          </a:p>
        </p:txBody>
      </p:sp>
      <p:sp>
        <p:nvSpPr>
          <p:cNvPr id="25" name="Shape 23"/>
          <p:cNvSpPr/>
          <p:nvPr/>
        </p:nvSpPr>
        <p:spPr>
          <a:xfrm>
            <a:off x="9272016" y="3520440"/>
            <a:ext cx="54864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items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2016" y="4160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epics, 19 stories, 9 tasks, 4 bugs, 30 subtasks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Hierarchy: Epic → Story / Task / Bug → Subtask.  Feature = Story + ‘feature’ label;  AI Control = Task + ‘ai-control’ label.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Scrum reports: burndown, sprint report and velocity, reviewed during each sprint and at retrospectives.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Nine dependency links converge on the v1.0 deploy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828800" cy="1463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9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S1 · BAS-14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SSO &amp; session 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2560320"/>
            <a:ext cx="365760" cy="36576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Blocks BAS-18 employee profile and entitlement API (S2)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1828800" cy="1463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9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S2 · BAS-18, 20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Governed 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560320"/>
            <a:ext cx="365760" cy="36576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BAS-20 also blocked by critical session-cache bug BAS-16; BAS-21 relates to planner BAS-25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2011680"/>
            <a:ext cx="1828800" cy="1463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9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· BAS-26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2560320"/>
            <a:ext cx="365760" cy="36576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Blocks the v1.0 production deploy BAS-39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2011680"/>
            <a:ext cx="1828800" cy="1463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9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S4–S5 · BAS-29, 36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Guardrails, red-team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81160" y="2560320"/>
            <a:ext cx="365760" cy="365760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Prompt-injection defenses block red-team tests; BAS-32 trace evidence relates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92640" y="2011680"/>
            <a:ext cx="1828800" cy="1463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9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 · BAS-39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v1.0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92640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Blocked by BAS-26, UAT sign-off BAS-37 and privacy bug BAS-34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91672" cy="868680"/>
          </a:xfrm>
          <a:prstGeom prst="rect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item:  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BAS-39 cannot ship until human approval (BAS-26), business UAT sign-off (BAS-37) and the telemetry privacy bug (BAS-34) are closed.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controls and review gates built into delivery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422392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guardrails and privacy (BAS-6, BAS-7)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Prompt-injection defense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Unsafe requests denied and logged (BAS-29)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192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masking and retention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Control BAS-30, validated before release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88536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2153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Human-in-the-loop approval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High-risk actions pause for approval (BAS-26)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1114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and trace logging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trace IDs and audit correlation (BAS-32)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1645920"/>
            <a:ext cx="5422392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Assurance and sign-off gates (BAS-8)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2496312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423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Review → AI &amp; Security Review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Guardrails, IAM, privacy and RAG/tool safety checked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3392424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33192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Red-team and security testing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Adversarial suite BAS-36; evidence retained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4288536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42153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UAT sign-off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UAT and release-readiness review (BAS-37)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5184648"/>
            <a:ext cx="384048" cy="384048"/>
          </a:xfrm>
          <a:prstGeom prst="ellipse">
            <a:avLst/>
          </a:prstGeom>
          <a:solidFill>
            <a:srgbClr val="E3F4F5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51114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Ready for Release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unresolved Critical/Highest defects; approval recorded</a:t>
            </a:r>
            <a:endParaRPr lang="en-US" sz="1600" dirty="0"/>
          </a:p>
        </p:txBody>
      </p:sp>
      <p:sp>
        <p:nvSpPr>
          <p:cNvPr id="901" name="Check 901"/>
          <p:cNvSpPr/>
          <p:nvPr/>
        </p:nvSpPr>
        <p:spPr>
          <a:xfrm>
            <a:off x="743773" y="2626887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B2545"/>
            </a:solidFill>
            <a:round/>
          </a:ln>
        </p:spPr>
      </p:sp>
      <p:sp>
        <p:nvSpPr>
          <p:cNvPr id="902" name="Check 902"/>
          <p:cNvSpPr/>
          <p:nvPr/>
        </p:nvSpPr>
        <p:spPr>
          <a:xfrm>
            <a:off x="743773" y="3522999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B2545"/>
            </a:solidFill>
            <a:round/>
          </a:ln>
        </p:spPr>
      </p:sp>
      <p:sp>
        <p:nvSpPr>
          <p:cNvPr id="903" name="Check 903"/>
          <p:cNvSpPr/>
          <p:nvPr/>
        </p:nvSpPr>
        <p:spPr>
          <a:xfrm>
            <a:off x="743773" y="4419111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B2545"/>
            </a:solidFill>
            <a:round/>
          </a:ln>
        </p:spPr>
      </p:sp>
      <p:sp>
        <p:nvSpPr>
          <p:cNvPr id="904" name="Check 904"/>
          <p:cNvSpPr/>
          <p:nvPr/>
        </p:nvSpPr>
        <p:spPr>
          <a:xfrm>
            <a:off x="743773" y="5315223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B2545"/>
            </a:solidFill>
            <a:round/>
          </a:ln>
        </p:spPr>
      </p:sp>
      <p:sp>
        <p:nvSpPr>
          <p:cNvPr id="905" name="Check 905"/>
          <p:cNvSpPr/>
          <p:nvPr/>
        </p:nvSpPr>
        <p:spPr>
          <a:xfrm>
            <a:off x="6413053" y="2626887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E9AA7"/>
            </a:solidFill>
            <a:round/>
          </a:ln>
        </p:spPr>
      </p:sp>
      <p:sp>
        <p:nvSpPr>
          <p:cNvPr id="906" name="Check 906"/>
          <p:cNvSpPr/>
          <p:nvPr/>
        </p:nvSpPr>
        <p:spPr>
          <a:xfrm>
            <a:off x="6413053" y="3522999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E9AA7"/>
            </a:solidFill>
            <a:round/>
          </a:ln>
        </p:spPr>
      </p:sp>
      <p:sp>
        <p:nvSpPr>
          <p:cNvPr id="907" name="Check 907"/>
          <p:cNvSpPr/>
          <p:nvPr/>
        </p:nvSpPr>
        <p:spPr>
          <a:xfrm>
            <a:off x="6413053" y="4419111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E9AA7"/>
            </a:solidFill>
            <a:round/>
          </a:ln>
        </p:spPr>
      </p:sp>
      <p:sp>
        <p:nvSpPr>
          <p:cNvPr id="908" name="Check 908"/>
          <p:cNvSpPr/>
          <p:nvPr/>
        </p:nvSpPr>
        <p:spPr>
          <a:xfrm>
            <a:off x="6413053" y="5315223"/>
            <a:ext cx="176662" cy="138257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5"/>
                </a:moveTo>
                <a:lnTo>
                  <a:pt x="35" y="100"/>
                </a:lnTo>
                <a:lnTo>
                  <a:pt x="100" y="0"/>
                </a:lnTo>
              </a:path>
            </a:pathLst>
          </a:custGeom>
          <a:noFill/>
          <a:ln w="28575" cap="rnd">
            <a:solidFill>
              <a:srgbClr val="0E9AA7"/>
            </a:solidFill>
            <a:round/>
          </a:ln>
        </p:spPr>
      </p:sp>
      <p:sp>
        <p:nvSpPr>
          <p:cNvPr id="950" name="Added 950"/>
          <p:cNvSpPr txBox="1"/>
          <p:nvPr/>
        </p:nvSpPr>
        <p:spPr>
          <a:xfrm>
            <a:off x="6309360" y="603504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00" i="1" dirty="0">
                <a:solidFill>
                  <a:srgbClr val="5B6B7F"/>
                </a:solidFill>
                <a:latin typeface="IBM Plex Sans"/>
                <a:cs typeface="IBM Plex Sans"/>
              </a:rPr>
              <a:t>Planned workflow gates (workbook 04_WORKFLOW) — not yet configured in Jira BAS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RECOMMENDED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Recommended structure: team and reporting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27448" y="1554480"/>
            <a:ext cx="274320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554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Sponsor / Steering Committee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owner sign-off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9048" y="2423160"/>
            <a:ext cx="0" cy="36576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788920"/>
            <a:ext cx="8165592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78892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08960"/>
            <a:ext cx="2743200" cy="8686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Owner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Personas, journeys, backlog priority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9048" y="278892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3108960"/>
            <a:ext cx="2743200" cy="8686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Scrum Master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lead: Ajit Vishwakarma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77272" y="278892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05672" y="3108960"/>
            <a:ext cx="2743200" cy="8686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7112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&amp; Security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 architecture, IAM, controls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9048" y="3977640"/>
            <a:ext cx="0" cy="36576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4343400"/>
            <a:ext cx="8805672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1640" y="434340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 team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Agent, RAG and integration engineers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13632" y="434340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70632" y="46634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4663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 &amp; Red-team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Testing, adversarial suite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35624" y="434340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92624" y="46634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4663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&amp; Compliance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Guardrails, privacy, approvals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357616" y="434340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14616" y="46634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06056" y="4663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LLMOps / Operations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Evaluation, observability, support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579608" y="4343400"/>
            <a:ext cx="0" cy="32004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36608" y="46634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28048" y="4663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UAT users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Acceptance and sign-off</a:t>
            </a:r>
            <a:endParaRPr lang="en-US" sz="1500" dirty="0"/>
          </a:p>
        </p:txBody>
      </p:sp>
      <p:sp>
        <p:nvSpPr>
          <p:cNvPr id="960" name="Added 960"/>
          <p:cNvSpPr txBox="1"/>
          <p:nvPr/>
        </p:nvSpPr>
        <p:spPr>
          <a:xfrm>
            <a:off x="640080" y="5715000"/>
            <a:ext cx="1080820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dirty="0">
                <a:solidFill>
                  <a:srgbClr val="0B2545"/>
                </a:solidFill>
                <a:latin typeface="IBM Plex Sans"/>
                <a:cs typeface="IBM Plex Sans"/>
              </a:rPr>
              <a:t>Escalation path:  Team  →  Scrum Master  →  Product Owner  →  Steering Committee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RISKS AND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Risks to watch and the next steps in Jira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RISKS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394960" cy="105156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731520" cy="41148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0116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v1.0 deploy (BAS-39) has three blockers: BAS-26, UAT sign-off BAS-37 and privacy bug BAS-34. All are planned in S3–S5.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05156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731520" cy="411480"/>
          </a:xfrm>
          <a:prstGeom prst="rect">
            <a:avLst/>
          </a:prstGeom>
          <a:solidFill>
            <a:srgbClr val="1331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2461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injection and privacy defects (BAS-29, BAS-34). Red-team suite BAS-36 must pass before release.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94960" cy="105156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00600"/>
            <a:ext cx="731520" cy="411480"/>
          </a:xfrm>
          <a:prstGeom prst="rect">
            <a:avLst/>
          </a:prstGeom>
          <a:solidFill>
            <a:srgbClr val="1331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44805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 December window: S6 ends 28 Dec and v1.0 releases the next day, 29 Dec.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1554480"/>
            <a:ext cx="5239512" cy="4389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377440"/>
            <a:ext cx="457200" cy="457200"/>
          </a:xfrm>
          <a:prstGeom prst="rect">
            <a:avLst/>
          </a:prstGeom>
          <a:solidFill>
            <a:srgbClr val="7FD6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Assign owners: work items are unassigned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3200400"/>
            <a:ext cx="457200" cy="457200"/>
          </a:xfrm>
          <a:prstGeom prst="rect">
            <a:avLst/>
          </a:prstGeom>
          <a:solidFill>
            <a:srgbClr val="7FD6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 fixVersions v0.1 / v0.5 / v1.0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4023360"/>
            <a:ext cx="457200" cy="457200"/>
          </a:xfrm>
          <a:prstGeom prst="rect">
            <a:avLst/>
          </a:prstGeom>
          <a:solidFill>
            <a:srgbClr val="7FD6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Configure the review-gate workflow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4846320"/>
            <a:ext cx="457200" cy="457200"/>
          </a:xfrm>
          <a:prstGeom prst="rect">
            <a:avLst/>
          </a:prstGeom>
          <a:solidFill>
            <a:srgbClr val="7FD6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4846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“BAS Sprint 1”; start S1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REPORTING CADENCE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Recommended reporting cadence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5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Agentic AI Platform  |  Jira project BAS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00000"/>
                <a:gridCol w="2300000"/>
                <a:gridCol w="2100000"/>
                <a:gridCol w="2500000"/>
                <a:gridCol w="1864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Cadence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Audience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Jira report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Daily stand-up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Daily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Scrum team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Blockers and impediments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Sprint board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Sprint planning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of each 2-week sprint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Team + Product Owner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Sprint goal, committed backlog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Backlog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Sprint review &amp; demo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 of each sprint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 + stakeholders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Increment demo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Sprint report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Retrospective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 of each sprint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Scrum team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Improvement actions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Velocity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Release / steering status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 release: v0.1, v0.5, v1.0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Steering Committee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Release status and risks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A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Burndown, dashboard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61" name="Added 96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00" i="1" dirty="0">
                <a:solidFill>
                  <a:srgbClr val="5B6B7F"/>
                </a:solidFill>
                <a:latin typeface="IBM Plex Sans"/>
                <a:cs typeface="IBM Plex Sans"/>
              </a:rPr>
              <a:t>Recommended operating rhythm. Burndown, sprint report, velocity and the management dashboard are listed as “Recommended” Jira features in workbook 16_JIRA_FEATURES.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2026-10-07T01:00:27Z</dcterms:created>
  <dcterms:modified xsi:type="dcterms:W3CDTF">2026-10-07T01:00:27Z</dcterms:modified>
</cp:coreProperties>
</file>